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5D653-DDE3-4CCC-906A-A11D0FEEC82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28089-79F8-48C4-BB9B-56C81D9440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9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28089-79F8-48C4-BB9B-56C81D9440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7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0D6C-05A5-9663-A392-988D3B648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B56FF-6704-3DFC-11A7-BCF40BE61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5623F-97F2-4260-F9B3-119032FF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3E4DB-37D1-9B79-A3CF-95B8D55A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C0F2D-8A8A-EDE8-B5D2-109550AC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7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031D-28AB-5177-DF70-E10B6925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DF97A-E8D8-FBA6-4BAD-B42B350ED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FF801-C881-196E-58A3-26FE1CDB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3223D-08DD-083A-F504-D6F4E567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FDB23-752A-F152-6DCE-FEFAACAD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BC18-C635-4C11-9FE0-059664E6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6B4EA-69C2-7DAD-1A70-BF400343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90D53-F7BC-915D-A057-31C99128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71A9B-0570-0610-E7F7-178DDEB9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5833-E970-9559-F614-09210779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2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8415-4691-CDEB-5B2B-533E0AC8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173A-CA8C-EDF7-F77D-1E8B85BE4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6471E-AE41-1387-C044-DE48A4AE6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0F9F9-8B89-25F6-6BC5-16271739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15560-7B53-1836-AF2E-8043D694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1C8C2-79A6-386C-A7DF-D580710B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0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21E6-37DA-083F-0BB2-7BC10CC5A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A66D1-7055-75C7-4047-1A0E0B696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83BA4-8C43-07E3-903A-0853B6386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FA569-5968-B25A-3164-5891E9D2B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B722C-37F9-F565-E5BD-32605BED1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9A4F7-EEAF-5E8E-9450-FA5B802D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DDFA8-9336-53E3-7ABE-9F60948F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4DF84-D11A-AAF4-A37D-064ED1B2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4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F2F2-2C8F-8F61-6B04-DC408601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F3223-00D5-EECA-1E29-888798B8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EC01C-5048-5012-D904-408067E2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F1272-2301-10D2-9FC0-F9D293EB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7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8A8FC9-62EC-022F-DF89-D4117FFB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A00D1-E51B-D49D-7AE4-3B931561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63C66-134B-AF50-2874-01CC125E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9522-8BC6-4B03-E690-339ED968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0C115-AE5F-623D-D308-2995947C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B5044-4ED7-5199-B807-B08AD9749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C7188-EAD8-0EC2-8813-496BC7E2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81ADC-EB95-6900-56B6-E9151C55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03C-8698-F609-4D03-6D4E096F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66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A71F-A638-A3A6-0B7E-D2D3A5FE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2999E-58D2-054C-037E-9E8D761C9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A3E20-AE7E-E040-11B2-02CED6457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EEFED-40FE-0B7D-6119-6A4D3FAF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14EAB-4068-7946-CE95-056537F3B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BB930-0809-9ADA-8C85-9744D57B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30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20F21-8D85-D721-57C8-8DAFA519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E0EA9-1968-8C73-2E63-000BD227E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624B-2FB5-D22A-6B23-485BCC50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325E-EA5D-EBB4-CA9D-A1F0A957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85961-A216-62EA-34D0-A27869F9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45420-B699-2371-55AE-38D12B0E5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092A6-1B6A-F19B-D132-7ADF70D73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D9043-57BC-BB9F-5A0B-F6408C7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BF372-9D1F-688C-A452-F9D5097DA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CBEA-2E98-3D79-C1C1-D6566A44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3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5DDEA-95D8-0C86-D648-F2F4F45B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78D98-B833-9639-0105-AC373711C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F26EA-BF15-D309-2998-71FCB86D6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4EF1A-B05A-4A40-98AA-078ED4DFF0F1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BF996-D7A9-4544-FB1D-B2C49595F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47DD5-9CE2-2F11-F71D-6D1B7DBDF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769BD-1109-4AFB-A061-9268C272E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198C-318F-72FE-5CEB-98043B697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1AF5B-5D01-DB19-895F-82518CD56D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964068-6DC2-830E-7D23-1E282250A249}"/>
              </a:ext>
            </a:extLst>
          </p:cNvPr>
          <p:cNvSpPr/>
          <p:nvPr/>
        </p:nvSpPr>
        <p:spPr>
          <a:xfrm>
            <a:off x="-1719102" y="107209"/>
            <a:ext cx="13816780" cy="6577781"/>
          </a:xfrm>
          <a:prstGeom prst="roundRect">
            <a:avLst>
              <a:gd name="adj" fmla="val 2126"/>
            </a:avLst>
          </a:prstGeom>
          <a:solidFill>
            <a:srgbClr val="1A1A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8AA655-CCA6-8E63-FA60-E7055F1DC4DA}"/>
              </a:ext>
            </a:extLst>
          </p:cNvPr>
          <p:cNvSpPr txBox="1"/>
          <p:nvPr/>
        </p:nvSpPr>
        <p:spPr>
          <a:xfrm>
            <a:off x="-1310320" y="122218"/>
            <a:ext cx="1252138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SUMMARY OF THE REPORT KEY ACADEMICS TRENDS BEHAVIOURAL CORRELATION , AND POTENTIALS AREA TARGETED FOR EDUCATIONAL INTERVENTION IN THE PUBLIC SCHOOLS OF APAPA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99FA9-FBB5-6110-50DC-685DFB75B2CF}"/>
              </a:ext>
            </a:extLst>
          </p:cNvPr>
          <p:cNvSpPr txBox="1"/>
          <p:nvPr/>
        </p:nvSpPr>
        <p:spPr>
          <a:xfrm>
            <a:off x="-1480185" y="697937"/>
            <a:ext cx="1333894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1. Attendance vs. Performance Correlation</a:t>
            </a:r>
          </a:p>
          <a:p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</a:t>
            </a:r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There is a stark contrast between general attendance and high-performing students: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Attendance Gap: The general average attendance is sitting at 0.70 (70%). This indicates a notable absenteeism rate across public schools in the region, meaning the average student misses roughly 30% of their school days.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High Attendance Premium: In contrast, the metric "High attendance average score" is 71. This strongly implies that students who maintain consistent, high attendance records achieve solid, upper-tier academic scores.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Takeaway: Academic failure in this region may be a structural engagement issue rather than an intellectual one. Improving daily attendance could be the single most effective lever to reduce the 334 "F" grades currently recorded.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​2. Subject Matter Strengths and Vulnerabilities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​When analyzing the pass rates across different subjects, clear departmental trends emerge: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​STEM Dominance: Data from the bar chart and table show that Physics (88%) and Computer Science (88%) boast the highest overall pass rates. Chemistry follows closely behind at 87%. This suggests strong instructional frameworks or high student engagement in the hard sciences.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Language Arts Bottleneck: English sits at the bottom of the tracked table with an 84% pass rate. While an 84% pass rate is generally high, as a compulsory foundational subject, it represents the largest risk area. A lower pass rate in English can bottleneck student success in other text-heavy subjects.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​3. The Gender Equity Gap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bottom metric introduces an interesting nuance regarding overall scores versus pass rates: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​Marginal Male Advantage: In the Apapa LGA, male students hold a slight academic edge with an average score of 63.59, compared to female students at 62.52. This results in a combined regional average score of 63.07.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Score vs. Pass Rate Paradox: It is critical to notice that while the overall pass rate for the region is a stellar 86%, the average score hovers around 63% (a C grade standard). This indicates that while the vast majority of public-school students in Apapa are successfully passing their courses, they are doing so with average marks rather than high distinctions.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​Strategic Summary for Decision Makers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​For an administrator looking at 267414.jpg, the data points to three clear action items: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​Address the 30% Absenteeism: Implement localized attendance-driving initiatives to bring the 0.70 average closer to the high-attendance cohort.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​Bolster Literacy: Allocate remedial resources to English language instruction to prevent it from dragging down overall academic performance.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​Push for Excellence, Not Just Passing: Shift the teaching focus from merely clearing the "86% pass threshold" to raising the average student score above the current 63.07 baseline.</a:t>
            </a:r>
          </a:p>
          <a:p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 </a:t>
            </a:r>
          </a:p>
          <a:p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 </a:t>
            </a:r>
          </a:p>
          <a:p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 </a:t>
            </a:r>
          </a:p>
          <a:p>
            <a:r>
              <a:rPr lang="en-US" sz="1400" b="1" dirty="0">
                <a:solidFill>
                  <a:schemeClr val="bg1"/>
                </a:solidFill>
                <a:cs typeface="Times New Roman" panose="02020603050405020304" pitchFamily="18" charset="0"/>
              </a:rPr>
              <a:t> </a:t>
            </a:r>
          </a:p>
          <a:p>
            <a:endParaRPr lang="en-US" sz="14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84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3BF2-7E2B-B1C3-9398-BE0CF2E7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CC12-F0B3-AF47-5069-2BF2FB1A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A3857C-7F30-DA98-381C-61B388D51963}"/>
              </a:ext>
            </a:extLst>
          </p:cNvPr>
          <p:cNvGrpSpPr/>
          <p:nvPr/>
        </p:nvGrpSpPr>
        <p:grpSpPr>
          <a:xfrm>
            <a:off x="-892277" y="-88653"/>
            <a:ext cx="15043353" cy="7060893"/>
            <a:chOff x="655661" y="-402014"/>
            <a:chExt cx="11901949" cy="65925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4ACEE39-AC5F-DE63-94C7-E6E1D0D366F2}"/>
                </a:ext>
              </a:extLst>
            </p:cNvPr>
            <p:cNvSpPr/>
            <p:nvPr/>
          </p:nvSpPr>
          <p:spPr>
            <a:xfrm>
              <a:off x="655661" y="-402014"/>
              <a:ext cx="11901949" cy="6592530"/>
            </a:xfrm>
            <a:prstGeom prst="roundRect">
              <a:avLst>
                <a:gd name="adj" fmla="val 2126"/>
              </a:avLst>
            </a:prstGeom>
            <a:solidFill>
              <a:srgbClr val="1A1A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85B9B65-01CD-0DF8-B253-89C6972C6742}"/>
                </a:ext>
              </a:extLst>
            </p:cNvPr>
            <p:cNvSpPr/>
            <p:nvPr/>
          </p:nvSpPr>
          <p:spPr>
            <a:xfrm>
              <a:off x="9886855" y="260836"/>
              <a:ext cx="1991032" cy="324343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A505E8-6259-F90A-A436-9A65F5F9D812}"/>
              </a:ext>
            </a:extLst>
          </p:cNvPr>
          <p:cNvSpPr txBox="1"/>
          <p:nvPr/>
        </p:nvSpPr>
        <p:spPr>
          <a:xfrm>
            <a:off x="-208935" y="18314"/>
            <a:ext cx="126098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SUMMARY OF PERSONAL FINANACE DASHBOARD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D4A1E-FBE8-3F63-8D78-DC80D5EE63CC}"/>
              </a:ext>
            </a:extLst>
          </p:cNvPr>
          <p:cNvSpPr txBox="1"/>
          <p:nvPr/>
        </p:nvSpPr>
        <p:spPr>
          <a:xfrm>
            <a:off x="0" y="796413"/>
            <a:ext cx="1325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01FEB-D970-322C-570B-8A84117BDAF8}"/>
              </a:ext>
            </a:extLst>
          </p:cNvPr>
          <p:cNvSpPr txBox="1"/>
          <p:nvPr/>
        </p:nvSpPr>
        <p:spPr>
          <a:xfrm>
            <a:off x="-737419" y="425950"/>
            <a:ext cx="1488849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dashboard tracks long-term personal finance metrics across multiple years (spanning 2021 to 2024). It provides high-level key performance indicators (KPIs), monthly income versus expense trends, a breakdown of expenses by category, and savings behavior over time. The data reflects a high-volume financial scale, using local abbreviations where "M" stands for Millions and "bn" stands for Billions.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​High-Level Headline Metrics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top of the dashboard displays four major macro-KPIs that summarize the overall financial health: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​Total Income: 4,406M (4.406 Billion)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​Total Expense: 4bn (4.000 Billion)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​Net Savings: 1bn (1.000 Billion)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​Savings Rate: 17% (Visually supported by the radial gauge chart at the bottom center displaying 17% against a target scale).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​Financial Trends &amp; Historical Performance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​Expense and Income Per Month (April Comparison)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​A vertical bar chart focuses specifically on the month of April across two distinct years: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​April 2021: Income stood at 134M while Expenses were lower at 99M.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​April 2022: Income dropped slightly to 109M, while Expenses remained perfectly flat at 99M.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​Total Expenses and Total Income by Month (Three-Month Trend)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​A line chart tracks performance across three specific operational months: October, March, and August.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​Income (Dark Blue Line): Shows a steady downward trajectory from its peak in October (394M), dropping to March (382M), and reaching its lowest point in August (350M).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​Expenses (Light Blue Line): Remains exceptionally stable and strictly managed, hovering flat between 319M in October, 318M in March, and 317M in August.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​Net Savings Timeline (2021–2024)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daily/transactional net savings plot shows dense volatility but remains mostly positive, peaking around specific intervals near 7.5M to 7.8M per transaction block, with a consistent cluster of activity across 2021, 2022, and 2023.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​Expense Breakdown by Category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​The right-hand side of the dashboard isolates where money is being spent using a tree map and a pie chart. The top expense categories are highly competitive in value: Robust Financial Health &amp; Scale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High-Value Transactions: The organization achieved an impressive Total Revenue of $206.07M across 1,070 total orders. This points to a highly lucrative corporate or wholesale enterprise model, underscored by an exceptional Average Order Value of $192.59K.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Strong Customer Retention: A low Return Rate of 6.64% indicates high product satisfaction, accurate order fulfillment, and strong operational efficiency.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2. Category Dominance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The Growth Engine: Product inventory is overwhelmingly anchored by Electronics, generating $93.83M (approx. 45.5% of total revenue).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Secondary Pillars: Home &amp; Kitchen ($30.04M) and Sports ($28.75M) represent vital secondary drivers, while categories like Food &amp; Beverage ($6.32M) and Books ($6.93M) remain niche segments.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3. Balanced Regional Footprint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Unlike markets dominated by a single mega-city, revenue is remarkably well-balanced across Nigeria’s key commercial hubs.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Enugu leads regional performance at $29.16M, closely followed by Abuja ($27.14M) and Benin City ($26.42M). Even the lowest-performing region tracked in the matrix (Kaduna) brought in a substantial $23.52M, showing healthy geographic diversification and minimal reliance on a single territory.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4. Volatility in Seasonal Trends</a:t>
            </a:r>
          </a:p>
          <a:p>
            <a:r>
              <a:rPr lang="en-US" sz="1200" b="1" dirty="0">
                <a:solidFill>
                  <a:schemeClr val="bg1"/>
                </a:solidFill>
                <a:cs typeface="Times New Roman" panose="02020603050405020304" pitchFamily="18" charset="0"/>
              </a:rPr>
              <a:t>While overall figures are strong, the Q2 2023 timeline reveals sharp quarterly volatility. Revenue fell to its lowest point in May 2023 (~$63M) before experiencing a dramatic, record-breaking surge in June 2023 (&gt;$75M).</a:t>
            </a:r>
          </a:p>
          <a:p>
            <a:endParaRPr lang="en-US" sz="12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EFA8-2513-CA35-B10A-249C247493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413DA-D080-3BE6-2307-24384A4AB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4C1973-26FD-726B-26F3-908D74AC5A0E}"/>
              </a:ext>
            </a:extLst>
          </p:cNvPr>
          <p:cNvSpPr/>
          <p:nvPr/>
        </p:nvSpPr>
        <p:spPr>
          <a:xfrm>
            <a:off x="-1814513" y="-604846"/>
            <a:ext cx="15432189" cy="7848609"/>
          </a:xfrm>
          <a:prstGeom prst="roundRect">
            <a:avLst>
              <a:gd name="adj" fmla="val 2126"/>
            </a:avLst>
          </a:prstGeom>
          <a:solidFill>
            <a:srgbClr val="1A1A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80113-FD0F-3D61-2C1D-C0A441833102}"/>
              </a:ext>
            </a:extLst>
          </p:cNvPr>
          <p:cNvSpPr txBox="1"/>
          <p:nvPr/>
        </p:nvSpPr>
        <p:spPr>
          <a:xfrm>
            <a:off x="-208936" y="-368174"/>
            <a:ext cx="126098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Revenue Distribution Across Regional Territories.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071F1-34B6-700B-0102-5F850FAAFB66}"/>
              </a:ext>
            </a:extLst>
          </p:cNvPr>
          <p:cNvSpPr txBox="1"/>
          <p:nvPr/>
        </p:nvSpPr>
        <p:spPr>
          <a:xfrm>
            <a:off x="-1500187" y="-129495"/>
            <a:ext cx="16218001" cy="727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Executive Key Performance Indicators (KPIs)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Total Revenue: $206.07M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Average Order Value: $192.59K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Return Rate: 6.64%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Total Orders: 1,070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Active Filters Applied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According to the sidebar selection menus, the current data view reflects specific active filters:</a:t>
            </a:r>
            <a:endParaRPr lang="en-US" sz="1000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Year: 2021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Region: All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Category: Books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Payment Method: Card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Breakdown by Revenue Metrics</a:t>
            </a:r>
          </a:p>
          <a:p>
            <a:pPr lvl="0"/>
            <a:r>
              <a:rPr lang="en-US" sz="1000" b="1" dirty="0">
                <a:solidFill>
                  <a:schemeClr val="bg1"/>
                </a:solidFill>
              </a:rPr>
              <a:t>Revenue by Category (Donut Chart)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The total revenue is divided into product categories, with major shares highlighted below: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Home &amp; Kitchen: $93.8…M (accounting for 45.5% of total revenue)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Sports: $30.04M (accounting for 14.58% of total revenue)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Clothing: $28….M (accounting for 13….% of total revenue)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Other visible categories include Electronics, Toys, Health &amp; Beauty, Books, and Food &amp; Beverage.</a:t>
            </a:r>
          </a:p>
          <a:p>
            <a:pPr lvl="0"/>
            <a:r>
              <a:rPr lang="en-US" sz="1000" b="1" dirty="0">
                <a:solidFill>
                  <a:schemeClr val="bg1"/>
                </a:solidFill>
              </a:rPr>
              <a:t>Revenue by Region (Horizontal Bar Chart)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The horizontal bar chart tracks performance across several regional territories, showing relatively competitive totals across the board. In order of ascending revenue, the primary regions are: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Lagos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Kaduna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Kano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Ibadan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Port Harcourt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Benin City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Abuja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Enugu (Highest revenue contributor in this chart view)</a:t>
            </a:r>
          </a:p>
          <a:p>
            <a:pPr lvl="0"/>
            <a:r>
              <a:rPr lang="en-US" sz="1000" b="1" dirty="0">
                <a:solidFill>
                  <a:schemeClr val="bg1"/>
                </a:solidFill>
              </a:rPr>
              <a:t>Total Revenue by Quarter, Year, and Month Year (Line Chart)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This visualization tracks a localized timeline during Q2 of 2023: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April 2023: Opened at approximately $68M.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June 2023: Peaked dramatically at over $75M.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May 2023: Dropped to the lowest point of the quarter at roughly $63M.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Robust Financial Health &amp; Scale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​High-Value Transactions: The organization achieved an impressive Total Revenue of $206.07M across 1,070 total orders. This points to a highly lucrative corporate or wholesale enterprise model, underscored by an exceptional Average Order Value of $192.59K.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​Strong Customer Retention: A low Return Rate of 6.64% indicates high product satisfaction, accurate order fulfillment, and strong operational efficiency.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​2. Category Dominance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​The Growth Engine: Product inventory is overwhelmingly anchored by Electronics, generating $93.83M (approx. 45.5% of total revenue).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​Secondary Pillars: Home &amp; Kitchen ($30.04M) and Sports ($28.75M) represent vital secondary drivers, while categories like Food &amp; Beverage ($6.32M) and Books ($6.93M) remain niche segments.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​3. Balanced Regional Footprint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​Unlike markets dominated by a single mega-city, revenue is remarkably well-balanced across Nigeria's key commercial hubs.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​Enugu leads regional performance at $29.16M, closely followed by Abuja ($27.14M) and Benin City ($26.42M). Even the lowest-performing region tracked in the matrix (Kaduna) brought in a substantial $23.52M, showing healthy geographic diversification and minimal reliance on a single territory.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​4. Volatility in Seasonal Trends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​While overall figures are strong, the Q2 2023 timeline reveals sharp quarterly volatility. Revenue fell to its lowest point in May 2023 (~$63M) before experiencing a dramatic, record-breaking surge in June 2023 (&gt;$75M).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 </a:t>
            </a:r>
          </a:p>
          <a:p>
            <a:endParaRPr 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6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1738</Words>
  <Application>Microsoft Office PowerPoint</Application>
  <PresentationFormat>Widescreen</PresentationFormat>
  <Paragraphs>102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Moshood  Olatunde</dc:creator>
  <cp:lastModifiedBy>Moshood  Olatunde</cp:lastModifiedBy>
  <cp:revision>2</cp:revision>
  <dcterms:created xsi:type="dcterms:W3CDTF">2026-05-31T15:26:03Z</dcterms:created>
  <dcterms:modified xsi:type="dcterms:W3CDTF">2026-05-31T15:27:08Z</dcterms:modified>
</cp:coreProperties>
</file>